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22960" y="1143000"/>
            <a:ext cx="868680" cy="8686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 descr="/home/claude/icons/bank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817" y="136885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777240" y="2286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BANKING CUSTOMER 360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unified, real-time view of every customer across Loans, Accounts, Credit Cards &amp; Investments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822960" y="3977640"/>
            <a:ext cx="8869680" cy="0"/>
          </a:xfrm>
          <a:prstGeom prst="straightConnector1">
            <a:avLst/>
          </a:prstGeom>
          <a:noFill/>
          <a:ln w="3175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AWS Data Engineering Training Project  |  August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77250" y="4319125"/>
            <a:ext cx="636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Client : A Leading Global Bank</a:t>
            </a:r>
            <a:endParaRPr sz="2000" b="1">
              <a:solidFill>
                <a:srgbClr val="C9A2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548640" y="365755"/>
            <a:ext cx="11064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Problem: Customer data, Fragmented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48650" y="1051551"/>
            <a:ext cx="11064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Four products. Four silos. No single view of the relationship.</a:t>
            </a:r>
            <a:endParaRPr sz="2000" b="1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Bank can't see cross-sell opportunity, true relationship value, or regional risk</a:t>
            </a:r>
            <a:endParaRPr sz="1500" i="1">
              <a:solidFill>
                <a:srgbClr val="6B6B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225525" y="1968378"/>
            <a:ext cx="2148900" cy="1737300"/>
          </a:xfrm>
          <a:prstGeom prst="roundRect">
            <a:avLst>
              <a:gd name="adj" fmla="val 6316"/>
            </a:avLst>
          </a:prstGeom>
          <a:solidFill>
            <a:srgbClr val="F1F1EF"/>
          </a:solidFill>
          <a:ln>
            <a:noFill/>
          </a:ln>
          <a:effectLst>
            <a:outerShdw blurRad="76200" dist="25400" dir="5400000" algn="bl" rotWithShape="0">
              <a:srgbClr val="999999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746733" y="2196978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4" descr="/home/claude/icons/home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4477" y="243472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225525" y="3202818"/>
            <a:ext cx="2148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Loans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53178" y="1968378"/>
            <a:ext cx="2148900" cy="1737300"/>
          </a:xfrm>
          <a:prstGeom prst="roundRect">
            <a:avLst>
              <a:gd name="adj" fmla="val 6316"/>
            </a:avLst>
          </a:prstGeom>
          <a:solidFill>
            <a:srgbClr val="F1F1EF"/>
          </a:solidFill>
          <a:ln>
            <a:noFill/>
          </a:ln>
          <a:effectLst>
            <a:outerShdw blurRad="76200" dist="25400" dir="5400000" algn="bl" rotWithShape="0">
              <a:srgbClr val="999999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74386" y="2196978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4" descr="/home/claude/icons/piggybank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566" y="2434722"/>
            <a:ext cx="450040" cy="438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553178" y="3202818"/>
            <a:ext cx="2148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Accounts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97880" y="192024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F1F1EF"/>
          </a:solidFill>
          <a:ln>
            <a:noFill/>
          </a:ln>
          <a:effectLst>
            <a:outerShdw blurRad="76200" dist="25400" dir="5400000" algn="bl" rotWithShape="0">
              <a:srgbClr val="999999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19088" y="2148840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 descr="/home/claude/icons/creditcard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6832" y="2386584"/>
            <a:ext cx="438912" cy="438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5897880" y="31546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Credit Cards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503920" y="192024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F1F1EF"/>
          </a:solidFill>
          <a:ln>
            <a:noFill/>
          </a:ln>
          <a:effectLst>
            <a:outerShdw blurRad="76200" dist="25400" dir="5400000" algn="bl" rotWithShape="0">
              <a:srgbClr val="999999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025128" y="2148840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4" descr="/home/claude/icons/chartline_FFFF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62872" y="2386584"/>
            <a:ext cx="438912" cy="438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8503920" y="31546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Investments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9" y="4800600"/>
            <a:ext cx="1980300" cy="123450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2577" y="4892040"/>
            <a:ext cx="2157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3600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2527" y="5584815"/>
            <a:ext cx="2157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9500" y="4800850"/>
            <a:ext cx="2067600" cy="1234500"/>
          </a:xfrm>
          <a:prstGeom prst="roundRect">
            <a:avLst>
              <a:gd name="adj" fmla="val 7407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759500" y="4892290"/>
            <a:ext cx="206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3468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59500" y="5578090"/>
            <a:ext cx="206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10425" y="4800600"/>
            <a:ext cx="2067600" cy="123450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675" rIns="91425" bIns="456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610425" y="4892032"/>
            <a:ext cx="206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3600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10425" y="5577773"/>
            <a:ext cx="206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908598" y="4800850"/>
            <a:ext cx="1980300" cy="1234500"/>
          </a:xfrm>
          <a:prstGeom prst="roundRect">
            <a:avLst>
              <a:gd name="adj" fmla="val 7407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908575" y="4892541"/>
            <a:ext cx="1980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3500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908598" y="5578096"/>
            <a:ext cx="198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Cards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970401" y="4800850"/>
            <a:ext cx="1980300" cy="123450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970401" y="4892291"/>
            <a:ext cx="1980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3469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970401" y="5578096"/>
            <a:ext cx="198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548628" y="3936722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total of </a:t>
            </a:r>
            <a:r>
              <a:rPr lang="en-US" sz="1600" b="1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14,600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rows of synthetic (Full Load + CDC) test data was generated across the four verticals — Loans, Accounts, Credit Cards, and Investments — to validate the pipeline at scale."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738" y="152400"/>
            <a:ext cx="7444526" cy="623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Refining the Data: Bronze → Silver → Gold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Every stage makes the data more trustworthy and more useful.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22960" y="1783080"/>
            <a:ext cx="3429000" cy="39776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034540" y="2103120"/>
            <a:ext cx="1005840" cy="100584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6" descr="/home/claude/icons/database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6058" y="2364638"/>
            <a:ext cx="482803" cy="4828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822960" y="333756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Bronze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22960" y="38404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 i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Raw, as-is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43000" y="4343400"/>
            <a:ext cx="2788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Straight from the source — unfiltered, unformatted, untouched.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270248" y="3520440"/>
            <a:ext cx="219456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07992" y="1783080"/>
            <a:ext cx="3429000" cy="39776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719572" y="2103120"/>
            <a:ext cx="1005840" cy="1005840"/>
          </a:xfrm>
          <a:prstGeom prst="ellipse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6" descr="/home/claude/icons/broom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1090" y="23646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4507992" y="333756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Silver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07992" y="38404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lang="en-US" sz="1300" b="1" i="1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Cleaned &amp; flagged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28032" y="4343400"/>
            <a:ext cx="2788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Types fixed, duplicates removed, issues flagged — never hidden.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955280" y="3520440"/>
            <a:ext cx="219456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193024" y="1783080"/>
            <a:ext cx="3429000" cy="39776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404604" y="2103120"/>
            <a:ext cx="1005840" cy="10058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 descr="/home/claude/icons/gem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66122" y="23646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8193024" y="333756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Gold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193024" y="38404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lang="en-US" sz="1300" b="1" i="1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Business-ready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513064" y="4343400"/>
            <a:ext cx="2788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One customer view, joined and modeled for instant analysis.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Challenges We Hit — And Solved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Real production-style problems, diagnosed and fixed, not avoided.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2296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97280" y="214884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7" descr="/home/claude/icons/bug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9362" y="23509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2057400" y="208483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Corrupted import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057400" y="2514600"/>
            <a:ext cx="37947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 misconfigured header setting silently scrambled a live table — caught, reverted, fixed at the source.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40080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675120" y="214884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7" descr="/home/claude/icons/sync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7202" y="23509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7635240" y="208483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CDC vs. Full Load formats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635240" y="2514600"/>
            <a:ext cx="37947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Incremental update files carry an extra hidden column — pipeline now auto-detects and adapts.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2296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097280" y="438912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7" descr="/home/claude/icons/cogs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9362" y="459120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2057400" y="432511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Network access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057400" y="4754880"/>
            <a:ext cx="37947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Dashboard tool couldn’t reach the warehouse — resolved by routing traffic securely inside the private network.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75120" y="438912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7" descr="/home/claude/icons/puzzle_FFFF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7202" y="459120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7635240" y="432511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misclassified column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635240" y="4754880"/>
            <a:ext cx="37947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An income category was wrongly read as a number, wiping its data — caught, corrected, verified.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Makes This Architecture Different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Not just a pipeline — an engineered, cost-aware, production-realistic system</a:t>
            </a:r>
            <a:r>
              <a:rPr lang="en-US" sz="15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" y="187452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41248" y="207568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8" descr="/home/claude/icons/layers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649" y="22230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1554480" y="2011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engine, four products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554480" y="2404872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single reusable pipeline handles all product lines — not four separate ones.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453128" y="187452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654296" y="207568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8" descr="/home/claude/icons/shield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1697" y="22230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5367528" y="2011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Nothing hidden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367528" y="2404872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Every data issue is flagged and traceable, never silently dropped.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266176" y="187452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8467344" y="207568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descr="/home/claude/icons/sync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4745" y="22230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9180576" y="2011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CDC-aware by design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9180576" y="2404872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to recognize and capture incremental change, not just one-time loads.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3584448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41248" y="3785616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 descr="/home/claude/icons/gem_FFFF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649" y="39330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1554480" y="372160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Cost-conscious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554480" y="4114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Serverless, pay-per-use choices throughout — no idle infrastructure billing.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453128" y="3584448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54296" y="3785616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8" descr="/home/claude/icons/warning_FFFFF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01697" y="39330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5367528" y="372160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trade-offs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367528" y="4114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Where shortcuts were taken under deadline, they're documented — not hidden.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266176" y="3584448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2E42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467344" y="3785616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 descr="/home/claude/icons/flask_FFFFFF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14745" y="39330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9180576" y="372160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Tested like production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180576" y="4114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Deliberately dirty test data proves the pipeline holds up, not just the happy path.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From Data to Decisions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Four real banking questions, answered instantly.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0080" y="1874520"/>
            <a:ext cx="2697480" cy="3840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531620" y="2194560"/>
            <a:ext cx="914400" cy="9144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 descr="/home/claude/icons/handshake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9364" y="24323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777240" y="32918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Cross-Sell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96112" y="3931920"/>
            <a:ext cx="21854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Which customers hold only a savings account — the biggest untapped opportunity.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520440" y="1874520"/>
            <a:ext cx="2697480" cy="3840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411980" y="219456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9" descr="/home/claude/icons/trophy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9724" y="24323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3657600" y="32918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High-Value Clients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776472" y="3931920"/>
            <a:ext cx="21854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Rank customers by total relationship value across all products.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0" y="1874520"/>
            <a:ext cx="2697480" cy="3840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292340" y="2194560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9" descr="/home/claude/icons/map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0084" y="24323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6537960" y="32918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Regional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656832" y="3931920"/>
            <a:ext cx="21854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Compare Products sale across region.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281160" y="1874520"/>
            <a:ext cx="2697480" cy="3840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 cap="flat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9" descr="/home/claude/icons/boxes_FFFF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10444" y="24323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9418320" y="329184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Product Adoption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537192" y="3931920"/>
            <a:ext cx="21854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See which product — Loans, Cards, or Investments — customers choose most.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Banking Customer 360  |  AWS Data Engineering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17780" dir="5400000" algn="t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467" y="1867058"/>
            <a:ext cx="5294716" cy="3123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10"/>
          <p:cNvCxnSpPr/>
          <p:nvPr/>
        </p:nvCxnSpPr>
        <p:spPr>
          <a:xfrm>
            <a:off x="6079958" y="1143000"/>
            <a:ext cx="0" cy="4572000"/>
          </a:xfrm>
          <a:prstGeom prst="straightConnector1">
            <a:avLst/>
          </a:prstGeom>
          <a:noFill/>
          <a:ln w="9525" cap="flat" cmpd="sng">
            <a:solidFill>
              <a:srgbClr val="4E4E4E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02" name="Google Shape;20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3817" y="1622179"/>
            <a:ext cx="5294715" cy="3613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1"/>
          <p:cNvPicPr preferRelativeResize="0"/>
          <p:nvPr/>
        </p:nvPicPr>
        <p:blipFill rotWithShape="1">
          <a:blip r:embed="rId3">
            <a:alphaModFix/>
          </a:blip>
          <a:srcRect r="34861" b="-1"/>
          <a:stretch/>
        </p:blipFill>
        <p:spPr>
          <a:xfrm>
            <a:off x="599774" y="484632"/>
            <a:ext cx="5811858" cy="588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97126"/>
            <a:ext cx="5985470" cy="411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17780" dir="5400000" algn="t" rotWithShape="0">
              <a:srgbClr val="000000">
                <a:alpha val="4313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467" y="1681744"/>
            <a:ext cx="3216264" cy="21683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12"/>
          <p:cNvCxnSpPr/>
          <p:nvPr/>
        </p:nvCxnSpPr>
        <p:spPr>
          <a:xfrm>
            <a:off x="6079958" y="1143000"/>
            <a:ext cx="0" cy="4572000"/>
          </a:xfrm>
          <a:prstGeom prst="straightConnector1">
            <a:avLst/>
          </a:prstGeom>
          <a:noFill/>
          <a:ln w="9525" cap="flat" cmpd="sng">
            <a:solidFill>
              <a:srgbClr val="4E4E4E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17" name="Google Shape;21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9731" y="480060"/>
            <a:ext cx="7688802" cy="5674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What's Next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roadmap toward a fully self-updating, production-grade platform.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508760" y="196596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3" descr="/home/claude/icons/sync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6504" y="2203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/>
          <p:nvPr/>
        </p:nvSpPr>
        <p:spPr>
          <a:xfrm>
            <a:off x="640080" y="30632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updates (MERGE)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731520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Update only what changed, instead of reloading everything.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3310128" y="2286000"/>
            <a:ext cx="146304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325112" y="196596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3" descr="/home/claude/icons/rocket_FFFFF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2856" y="2203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/>
          <p:nvPr/>
        </p:nvSpPr>
        <p:spPr>
          <a:xfrm>
            <a:off x="3456432" y="30632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automation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547872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Zero manual steps from data upload to dashboard refresh.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126480" y="2286000"/>
            <a:ext cx="146304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141464" y="196596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3" descr="/home/claude/icons/shield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9208" y="2203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6272784" y="30632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Native quality rules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364224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Formalize checks using AWS Glue's built-in data quality engine.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942832" y="2286000"/>
            <a:ext cx="146304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9957816" y="196596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 descr="/home/claude/icons/target_FFFF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5560" y="22037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/>
          <p:nvPr/>
        </p:nvSpPr>
        <p:spPr>
          <a:xfrm>
            <a:off x="9089136" y="30632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Self-adapting schema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9180576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Automatically detect new columns as the business evolves.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3"/>
          <p:cNvCxnSpPr/>
          <p:nvPr/>
        </p:nvCxnSpPr>
        <p:spPr>
          <a:xfrm>
            <a:off x="822960" y="5212080"/>
            <a:ext cx="10515600" cy="0"/>
          </a:xfrm>
          <a:prstGeom prst="straightConnector1">
            <a:avLst/>
          </a:prstGeom>
          <a:noFill/>
          <a:ln w="12700" cap="flat" cmpd="sng">
            <a:solidFill>
              <a:srgbClr val="2E42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13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600"/>
              <a:buFont typeface="Cambria"/>
              <a:buNone/>
            </a:pPr>
            <a:r>
              <a:rPr lang="en-US" sz="2600" b="1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102352" y="55321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 flipH="1">
            <a:off x="548640" y="6022324"/>
            <a:ext cx="30945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Ganesh &amp; Priya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Widescreen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priya k</cp:lastModifiedBy>
  <cp:revision>1</cp:revision>
  <dcterms:modified xsi:type="dcterms:W3CDTF">2026-08-27T11:57:05Z</dcterms:modified>
</cp:coreProperties>
</file>